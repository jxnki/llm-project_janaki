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Montaser Arabic" charset="1" panose="00000500000000000000"/>
      <p:regular r:id="rId23"/>
    </p:embeddedFont>
    <p:embeddedFont>
      <p:font typeface="Garet Italics" charset="1" panose="00000000000000000000"/>
      <p:regular r:id="rId24"/>
    </p:embeddedFont>
    <p:embeddedFont>
      <p:font typeface="Garet" charset="1" panose="00000000000000000000"/>
      <p:regular r:id="rId25"/>
    </p:embeddedFont>
    <p:embeddedFont>
      <p:font typeface="Garet Bold" charset="1" panose="00000000000000000000"/>
      <p:regular r:id="rId26"/>
    </p:embeddedFont>
    <p:embeddedFont>
      <p:font typeface="Bricolage Grotesque Bold" charset="1" panose="020B060504040200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556531" y="1903240"/>
            <a:ext cx="11718350" cy="384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sz="110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AI CH</a:t>
            </a:r>
            <a:r>
              <a:rPr lang="en-US" sz="110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ATBOT &amp; RAG AI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72315" y="9194165"/>
            <a:ext cx="654337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i="true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Reflections Info Systems Pvt Ltd.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53547" y="6365829"/>
            <a:ext cx="9231832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by Janaki 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32167" y="4138903"/>
            <a:ext cx="12081388" cy="363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5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</a:t>
            </a:r>
            <a:r>
              <a:rPr lang="en-US" sz="29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is presentation covers two AI-based projects:</a:t>
            </a:r>
          </a:p>
          <a:p>
            <a:pPr algn="l">
              <a:lnSpc>
                <a:spcPts val="4165"/>
              </a:lnSpc>
              <a:spcBef>
                <a:spcPct val="0"/>
              </a:spcBef>
            </a:pPr>
          </a:p>
          <a:p>
            <a:pPr algn="l">
              <a:lnSpc>
                <a:spcPts val="4165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AI Chatbot using Groq API</a:t>
            </a:r>
          </a:p>
          <a:p>
            <a:pPr algn="l">
              <a:lnSpc>
                <a:spcPts val="4165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RAG-based PDF Chatbot</a:t>
            </a:r>
          </a:p>
          <a:p>
            <a:pPr algn="l">
              <a:lnSpc>
                <a:spcPts val="4165"/>
              </a:lnSpc>
              <a:spcBef>
                <a:spcPct val="0"/>
              </a:spcBef>
            </a:pPr>
          </a:p>
          <a:p>
            <a:pPr algn="l">
              <a:lnSpc>
                <a:spcPts val="4165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These projects demonstrate how AI can improve automated communication and document-based information retrieval.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50081" y="1853502"/>
            <a:ext cx="11944941" cy="148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88"/>
              </a:lnSpc>
              <a:spcBef>
                <a:spcPct val="0"/>
              </a:spcBef>
            </a:pPr>
            <a:r>
              <a:rPr lang="en-US" sz="8705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PROJECT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32355" y="921067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284825" y="2699121"/>
            <a:ext cx="11718350" cy="384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Task 1:</a:t>
            </a:r>
          </a:p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sz="110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AI Chatbot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2167" y="876300"/>
            <a:ext cx="11564498" cy="1344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52"/>
              </a:lnSpc>
              <a:spcBef>
                <a:spcPct val="0"/>
              </a:spcBef>
            </a:pPr>
            <a:r>
              <a:rPr lang="en-US" sz="782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Task 1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516726" y="8229600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5" y="0"/>
                </a:lnTo>
                <a:lnTo>
                  <a:pt x="68090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58299">
            <a:off x="15935144" y="768765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74488" y="921067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2981" y="2845464"/>
            <a:ext cx="15674811" cy="532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  <a:spcBef>
                <a:spcPct val="0"/>
              </a:spcBef>
            </a:pPr>
            <a:r>
              <a:rPr lang="en-US" b="true" sz="357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Overview</a:t>
            </a:r>
          </a:p>
          <a:p>
            <a:pPr algn="l">
              <a:lnSpc>
                <a:spcPts val="4165"/>
              </a:lnSpc>
              <a:spcBef>
                <a:spcPct val="0"/>
              </a:spcBef>
            </a:pPr>
          </a:p>
          <a:p>
            <a:pPr algn="l">
              <a:lnSpc>
                <a:spcPts val="4165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AI Chatbot is a simple conversational assistant built using the Groq API.</a:t>
            </a:r>
          </a:p>
          <a:p>
            <a:pPr algn="l">
              <a:lnSpc>
                <a:spcPts val="4165"/>
              </a:lnSpc>
              <a:spcBef>
                <a:spcPct val="0"/>
              </a:spcBef>
            </a:pPr>
          </a:p>
          <a:p>
            <a:pPr algn="l">
              <a:lnSpc>
                <a:spcPts val="4165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Main functions:</a:t>
            </a:r>
          </a:p>
          <a:p>
            <a:pPr algn="l">
              <a:lnSpc>
                <a:spcPts val="4165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Answer user questions</a:t>
            </a:r>
          </a:p>
          <a:p>
            <a:pPr algn="l">
              <a:lnSpc>
                <a:spcPts val="4165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Maintains conversation history</a:t>
            </a:r>
          </a:p>
          <a:p>
            <a:pPr algn="l">
              <a:lnSpc>
                <a:spcPts val="4165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Generates real-time  responses</a:t>
            </a:r>
          </a:p>
          <a:p>
            <a:pPr algn="l">
              <a:lnSpc>
                <a:spcPts val="4165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algn="l">
              <a:lnSpc>
                <a:spcPts val="4165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project helped in understanding how Large Language Models (LLMs) work.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98475" y="654544"/>
            <a:ext cx="12668360" cy="2439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45"/>
              </a:lnSpc>
            </a:pPr>
            <a:r>
              <a:rPr lang="en-US" sz="85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BUSINESS PURPOSE </a:t>
            </a:r>
          </a:p>
          <a:p>
            <a:pPr algn="ctr">
              <a:lnSpc>
                <a:spcPts val="9545"/>
              </a:lnSpc>
            </a:pPr>
            <a:r>
              <a:rPr lang="en-US" sz="85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&amp; FEATURES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404507" y="8229600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235076" y="-1023552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58299">
            <a:off x="15582183" y="791246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53649">
            <a:off x="-1439636" y="-116961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21010" y="9678866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74942" y="3938788"/>
            <a:ext cx="6588900" cy="487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7"/>
              </a:lnSpc>
              <a:spcBef>
                <a:spcPct val="0"/>
              </a:spcBef>
            </a:pPr>
            <a:r>
              <a:rPr lang="en-US" sz="3084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Businesses often need automated systems to respond to user queries quickly.</a:t>
            </a:r>
          </a:p>
          <a:p>
            <a:pPr algn="l" marL="0" indent="0" lvl="0">
              <a:lnSpc>
                <a:spcPts val="4317"/>
              </a:lnSpc>
              <a:spcBef>
                <a:spcPct val="0"/>
              </a:spcBef>
            </a:pPr>
            <a:r>
              <a:rPr lang="en-US" sz="3084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algn="l" marL="0" indent="0" lvl="0">
              <a:lnSpc>
                <a:spcPts val="4317"/>
              </a:lnSpc>
              <a:spcBef>
                <a:spcPct val="0"/>
              </a:spcBef>
            </a:pPr>
            <a:r>
              <a:rPr lang="en-US" sz="3084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Businesses need faster customer interaction systems</a:t>
            </a:r>
          </a:p>
          <a:p>
            <a:pPr algn="l" marL="0" indent="0" lvl="0">
              <a:lnSpc>
                <a:spcPts val="4317"/>
              </a:lnSpc>
              <a:spcBef>
                <a:spcPct val="0"/>
              </a:spcBef>
            </a:pPr>
            <a:r>
              <a:rPr lang="en-US" sz="3084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Manual responses take time</a:t>
            </a:r>
          </a:p>
          <a:p>
            <a:pPr algn="l" marL="0" indent="0" lvl="0">
              <a:lnSpc>
                <a:spcPts val="4317"/>
              </a:lnSpc>
              <a:spcBef>
                <a:spcPct val="0"/>
              </a:spcBef>
            </a:pPr>
            <a:r>
              <a:rPr lang="en-US" sz="3084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Repetitive queries increase workload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13643" y="4043619"/>
            <a:ext cx="9242866" cy="2703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7"/>
              </a:lnSpc>
              <a:spcBef>
                <a:spcPct val="0"/>
              </a:spcBef>
            </a:pPr>
            <a:r>
              <a:rPr lang="en-US" sz="3084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Key Features:</a:t>
            </a:r>
          </a:p>
          <a:p>
            <a:pPr algn="l" marL="0" indent="0" lvl="0">
              <a:lnSpc>
                <a:spcPts val="4317"/>
              </a:lnSpc>
              <a:spcBef>
                <a:spcPct val="0"/>
              </a:spcBef>
            </a:pPr>
            <a:r>
              <a:rPr lang="en-US" sz="3084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Real-time AI responses</a:t>
            </a:r>
          </a:p>
          <a:p>
            <a:pPr algn="l" marL="0" indent="0" lvl="0">
              <a:lnSpc>
                <a:spcPts val="4317"/>
              </a:lnSpc>
              <a:spcBef>
                <a:spcPct val="0"/>
              </a:spcBef>
            </a:pPr>
            <a:r>
              <a:rPr lang="en-US" sz="3084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Multi-turn conversation memory</a:t>
            </a:r>
          </a:p>
          <a:p>
            <a:pPr algn="l" marL="0" indent="0" lvl="0">
              <a:lnSpc>
                <a:spcPts val="4317"/>
              </a:lnSpc>
              <a:spcBef>
                <a:spcPct val="0"/>
              </a:spcBef>
            </a:pPr>
            <a:r>
              <a:rPr lang="en-US" sz="3084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Adjustable AI behaviour</a:t>
            </a:r>
          </a:p>
          <a:p>
            <a:pPr algn="l" marL="0" indent="0" lvl="0">
              <a:lnSpc>
                <a:spcPts val="4317"/>
              </a:lnSpc>
              <a:spcBef>
                <a:spcPct val="0"/>
              </a:spcBef>
            </a:pPr>
            <a:r>
              <a:rPr lang="en-US" sz="3084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Secure API key handling using .env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732655" y="3644867"/>
            <a:ext cx="0" cy="561343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51104" y="333210"/>
            <a:ext cx="11564498" cy="2974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32"/>
              </a:lnSpc>
              <a:spcBef>
                <a:spcPct val="0"/>
              </a:spcBef>
            </a:pPr>
            <a:r>
              <a:rPr lang="en-US" sz="85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CONTRIBUTION &amp; CHALLENGES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0">
            <a:off x="14017813" y="-1112521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5" y="0"/>
                </a:lnTo>
                <a:lnTo>
                  <a:pt x="6809015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true" rot="-253649">
            <a:off x="-756132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32355" y="9457404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9159" y="3825595"/>
            <a:ext cx="17933845" cy="543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3"/>
              </a:lnSpc>
              <a:spcBef>
                <a:spcPct val="0"/>
              </a:spcBef>
            </a:pPr>
            <a:r>
              <a:rPr lang="en-US" sz="31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My C</a:t>
            </a:r>
            <a:r>
              <a:rPr lang="en-US" sz="31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ontribution:</a:t>
            </a:r>
          </a:p>
          <a:p>
            <a:pPr algn="l">
              <a:lnSpc>
                <a:spcPts val="4343"/>
              </a:lnSpc>
              <a:spcBef>
                <a:spcPct val="0"/>
              </a:spcBef>
            </a:pPr>
            <a:r>
              <a:rPr lang="en-US" sz="31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Integrated Groq API</a:t>
            </a:r>
          </a:p>
          <a:p>
            <a:pPr algn="l">
              <a:lnSpc>
                <a:spcPts val="4343"/>
              </a:lnSpc>
              <a:spcBef>
                <a:spcPct val="0"/>
              </a:spcBef>
            </a:pPr>
            <a:r>
              <a:rPr lang="en-US" sz="31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Implemented chat history memory</a:t>
            </a:r>
          </a:p>
          <a:p>
            <a:pPr algn="l">
              <a:lnSpc>
                <a:spcPts val="4343"/>
              </a:lnSpc>
              <a:spcBef>
                <a:spcPct val="0"/>
              </a:spcBef>
            </a:pPr>
            <a:r>
              <a:rPr lang="en-US" sz="31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Added prompt customization</a:t>
            </a:r>
          </a:p>
          <a:p>
            <a:pPr algn="l">
              <a:lnSpc>
                <a:spcPts val="4343"/>
              </a:lnSpc>
              <a:spcBef>
                <a:spcPct val="0"/>
              </a:spcBef>
            </a:pPr>
            <a:r>
              <a:rPr lang="en-US" sz="31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Managed API security</a:t>
            </a:r>
          </a:p>
          <a:p>
            <a:pPr algn="l">
              <a:lnSpc>
                <a:spcPts val="4343"/>
              </a:lnSpc>
              <a:spcBef>
                <a:spcPct val="0"/>
              </a:spcBef>
            </a:pPr>
          </a:p>
          <a:p>
            <a:pPr algn="l">
              <a:lnSpc>
                <a:spcPts val="4343"/>
              </a:lnSpc>
              <a:spcBef>
                <a:spcPct val="0"/>
              </a:spcBef>
            </a:pPr>
            <a:r>
              <a:rPr lang="en-US" sz="31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Challenges Faced:</a:t>
            </a:r>
          </a:p>
          <a:p>
            <a:pPr algn="l">
              <a:lnSpc>
                <a:spcPts val="4343"/>
              </a:lnSpc>
              <a:spcBef>
                <a:spcPct val="0"/>
              </a:spcBef>
            </a:pPr>
            <a:r>
              <a:rPr lang="en-US" sz="31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Managing conversation history(Solved by storing messages in a messages list)</a:t>
            </a:r>
          </a:p>
          <a:p>
            <a:pPr algn="l">
              <a:lnSpc>
                <a:spcPts val="4343"/>
              </a:lnSpc>
            </a:pPr>
            <a:r>
              <a:rPr lang="en-US" sz="31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</a:t>
            </a:r>
            <a:r>
              <a:rPr lang="en-US" sz="31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Deprecated Model Issue  (Solved by replacing the deprecated model with </a:t>
            </a:r>
          </a:p>
          <a:p>
            <a:pPr algn="l">
              <a:lnSpc>
                <a:spcPts val="4343"/>
              </a:lnSpc>
              <a:spcBef>
                <a:spcPct val="0"/>
              </a:spcBef>
            </a:pPr>
            <a:r>
              <a:rPr lang="en-US" sz="31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llama-3.1-8b-instant)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334915" y="3190830"/>
            <a:ext cx="11718350" cy="384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Task 2:</a:t>
            </a:r>
          </a:p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sz="110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RAG AI Chatbot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79274" y="8229600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854793" y="-1857349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58299">
            <a:off x="15779477" y="744762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53649">
            <a:off x="-1357510" y="-128705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57158" y="215556"/>
            <a:ext cx="12973684" cy="1344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52"/>
              </a:lnSpc>
              <a:spcBef>
                <a:spcPct val="0"/>
              </a:spcBef>
            </a:pPr>
            <a:r>
              <a:rPr lang="en-US" sz="782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Task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32355" y="9752618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91588" y="1858435"/>
            <a:ext cx="16379624" cy="7567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7"/>
              </a:lnSpc>
              <a:spcBef>
                <a:spcPct val="0"/>
              </a:spcBef>
            </a:pPr>
            <a:r>
              <a:rPr lang="en-US" b="true" sz="364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Overview</a:t>
            </a:r>
          </a:p>
          <a:p>
            <a:pPr algn="l">
              <a:lnSpc>
                <a:spcPts val="4241"/>
              </a:lnSpc>
              <a:spcBef>
                <a:spcPct val="0"/>
              </a:spcBef>
            </a:pPr>
          </a:p>
          <a:p>
            <a:pPr algn="l">
              <a:lnSpc>
                <a:spcPts val="4241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RAG AI System is a document-based AI chatbot that answers questions using uploaded PDF files.</a:t>
            </a:r>
          </a:p>
          <a:p>
            <a:pPr algn="l">
              <a:lnSpc>
                <a:spcPts val="4241"/>
              </a:lnSpc>
              <a:spcBef>
                <a:spcPct val="0"/>
              </a:spcBef>
            </a:pPr>
          </a:p>
          <a:p>
            <a:pPr algn="l">
              <a:lnSpc>
                <a:spcPts val="4241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Unlike a normal chatbot, this system retrieves relevant information from documents before generating responses.</a:t>
            </a:r>
          </a:p>
          <a:p>
            <a:pPr algn="l">
              <a:lnSpc>
                <a:spcPts val="4241"/>
              </a:lnSpc>
              <a:spcBef>
                <a:spcPct val="0"/>
              </a:spcBef>
            </a:pPr>
          </a:p>
          <a:p>
            <a:pPr algn="l">
              <a:lnSpc>
                <a:spcPts val="4241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Technologies used:</a:t>
            </a:r>
          </a:p>
          <a:p>
            <a:pPr algn="l">
              <a:lnSpc>
                <a:spcPts val="4241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LangChain</a:t>
            </a:r>
          </a:p>
          <a:p>
            <a:pPr algn="l">
              <a:lnSpc>
                <a:spcPts val="4241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ChromaDB</a:t>
            </a:r>
          </a:p>
          <a:p>
            <a:pPr algn="l">
              <a:lnSpc>
                <a:spcPts val="4241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HuggingFace Embeddings</a:t>
            </a:r>
          </a:p>
          <a:p>
            <a:pPr algn="l">
              <a:lnSpc>
                <a:spcPts val="4241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Groq API</a:t>
            </a:r>
          </a:p>
          <a:p>
            <a:pPr algn="l">
              <a:lnSpc>
                <a:spcPts val="4241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Streamlit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32648" y="453673"/>
            <a:ext cx="11564498" cy="218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3"/>
              </a:lnSpc>
            </a:pPr>
            <a:r>
              <a:rPr lang="en-US" b="true" sz="8722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BUSINESS PURPOSE &amp; FEATURES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404507" y="85280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573802" y="-1028700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5" y="0"/>
                </a:lnTo>
                <a:lnTo>
                  <a:pt x="6809015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58299">
            <a:off x="15935144" y="82296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53649">
            <a:off x="-1604876" y="-134267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583862" y="956450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0331" y="2820297"/>
            <a:ext cx="7934565" cy="6267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1"/>
              </a:lnSpc>
              <a:spcBef>
                <a:spcPct val="0"/>
              </a:spcBef>
            </a:pPr>
            <a:r>
              <a:rPr lang="en-US" sz="29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Organizations store a large amount of information in PDFs and reports.</a:t>
            </a:r>
          </a:p>
          <a:p>
            <a:pPr algn="l">
              <a:lnSpc>
                <a:spcPts val="4171"/>
              </a:lnSpc>
              <a:spcBef>
                <a:spcPct val="0"/>
              </a:spcBef>
            </a:pPr>
          </a:p>
          <a:p>
            <a:pPr algn="l">
              <a:lnSpc>
                <a:spcPts val="4171"/>
              </a:lnSpc>
              <a:spcBef>
                <a:spcPct val="0"/>
              </a:spcBef>
            </a:pPr>
            <a:r>
              <a:rPr lang="en-US" sz="29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Searching manually takes time</a:t>
            </a:r>
          </a:p>
          <a:p>
            <a:pPr algn="l">
              <a:lnSpc>
                <a:spcPts val="4171"/>
              </a:lnSpc>
              <a:spcBef>
                <a:spcPct val="0"/>
              </a:spcBef>
            </a:pPr>
            <a:r>
              <a:rPr lang="en-US" sz="29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Important information is difficult to locate quickly</a:t>
            </a:r>
          </a:p>
          <a:p>
            <a:pPr algn="l">
              <a:lnSpc>
                <a:spcPts val="4171"/>
              </a:lnSpc>
              <a:spcBef>
                <a:spcPct val="0"/>
              </a:spcBef>
            </a:pPr>
            <a:r>
              <a:rPr lang="en-US" sz="29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Large PDFs are hard to navigate</a:t>
            </a:r>
          </a:p>
          <a:p>
            <a:pPr algn="l">
              <a:lnSpc>
                <a:spcPts val="4171"/>
              </a:lnSpc>
              <a:spcBef>
                <a:spcPct val="0"/>
              </a:spcBef>
            </a:pPr>
          </a:p>
          <a:p>
            <a:pPr algn="l">
              <a:lnSpc>
                <a:spcPts val="4171"/>
              </a:lnSpc>
              <a:spcBef>
                <a:spcPct val="0"/>
              </a:spcBef>
            </a:pPr>
            <a:r>
              <a:rPr lang="en-US" sz="29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RAG system allows users to ask questions directly from documents and receive accurate context-based answers instantly.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02387" y="3468728"/>
            <a:ext cx="6280240" cy="4172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1"/>
              </a:lnSpc>
              <a:spcBef>
                <a:spcPct val="0"/>
              </a:spcBef>
            </a:pPr>
            <a:r>
              <a:rPr lang="en-US" sz="29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Key Fea</a:t>
            </a:r>
            <a:r>
              <a:rPr lang="en-US" sz="29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tures are:</a:t>
            </a:r>
          </a:p>
          <a:p>
            <a:pPr algn="l">
              <a:lnSpc>
                <a:spcPts val="4171"/>
              </a:lnSpc>
              <a:spcBef>
                <a:spcPct val="0"/>
              </a:spcBef>
            </a:pPr>
            <a:r>
              <a:rPr lang="en-US" sz="29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Multiple PDF support</a:t>
            </a:r>
          </a:p>
          <a:p>
            <a:pPr algn="l">
              <a:lnSpc>
                <a:spcPts val="4171"/>
              </a:lnSpc>
              <a:spcBef>
                <a:spcPct val="0"/>
              </a:spcBef>
            </a:pPr>
            <a:r>
              <a:rPr lang="en-US" sz="29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Semantic search</a:t>
            </a:r>
          </a:p>
          <a:p>
            <a:pPr algn="l">
              <a:lnSpc>
                <a:spcPts val="4171"/>
              </a:lnSpc>
              <a:spcBef>
                <a:spcPct val="0"/>
              </a:spcBef>
            </a:pPr>
            <a:r>
              <a:rPr lang="en-US" sz="29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Chat history memory</a:t>
            </a:r>
          </a:p>
          <a:p>
            <a:pPr algn="l">
              <a:lnSpc>
                <a:spcPts val="4171"/>
              </a:lnSpc>
              <a:spcBef>
                <a:spcPct val="0"/>
              </a:spcBef>
            </a:pPr>
            <a:r>
              <a:rPr lang="en-US" sz="29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Streamlit web interface</a:t>
            </a:r>
          </a:p>
          <a:p>
            <a:pPr algn="l">
              <a:lnSpc>
                <a:spcPts val="4171"/>
              </a:lnSpc>
              <a:spcBef>
                <a:spcPct val="0"/>
              </a:spcBef>
            </a:pPr>
            <a:r>
              <a:rPr lang="en-US" sz="29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Source chunk display</a:t>
            </a:r>
          </a:p>
          <a:p>
            <a:pPr algn="l">
              <a:lnSpc>
                <a:spcPts val="4171"/>
              </a:lnSpc>
              <a:spcBef>
                <a:spcPct val="0"/>
              </a:spcBef>
            </a:pPr>
            <a:r>
              <a:rPr lang="en-US" sz="29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Persistent local database</a:t>
            </a:r>
          </a:p>
          <a:p>
            <a:pPr algn="l">
              <a:lnSpc>
                <a:spcPts val="4171"/>
              </a:lnSpc>
              <a:spcBef>
                <a:spcPct val="0"/>
              </a:spcBef>
            </a:pPr>
            <a:r>
              <a:rPr lang="en-US" sz="29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Context-aware AI responses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595508" y="2877447"/>
            <a:ext cx="0" cy="63808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26967" y="429371"/>
            <a:ext cx="13604455" cy="91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8"/>
              </a:lnSpc>
            </a:pPr>
            <a:r>
              <a:rPr lang="en-US" sz="632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HOW THE RAG S</a:t>
            </a:r>
            <a:r>
              <a:rPr lang="en-US" sz="632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YSTEM WORKS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404507" y="7536860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573802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5" y="0"/>
                </a:lnTo>
                <a:lnTo>
                  <a:pt x="6809015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58299">
            <a:off x="15722438" y="738822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53649">
            <a:off x="-1892250" y="-51549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68617" y="2191928"/>
            <a:ext cx="13548405" cy="6756234"/>
          </a:xfrm>
          <a:custGeom>
            <a:avLst/>
            <a:gdLst/>
            <a:ahLst/>
            <a:cxnLst/>
            <a:rect r="r" b="b" t="t" l="l"/>
            <a:pathLst>
              <a:path h="6756234" w="13548405">
                <a:moveTo>
                  <a:pt x="0" y="0"/>
                </a:moveTo>
                <a:lnTo>
                  <a:pt x="13548404" y="0"/>
                </a:lnTo>
                <a:lnTo>
                  <a:pt x="13548404" y="6756233"/>
                </a:lnTo>
                <a:lnTo>
                  <a:pt x="0" y="67562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97" t="-21942" r="-277" b="-917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132355" y="9752618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23266" y="484777"/>
            <a:ext cx="12241468" cy="210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01"/>
              </a:lnSpc>
            </a:pPr>
            <a:r>
              <a:rPr lang="en-US" sz="732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</a:t>
            </a:r>
            <a:r>
              <a:rPr lang="en-US" sz="732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ONTRIBUTION &amp; CHALLENGES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0">
            <a:off x="15053265" y="-1174767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true" rot="-253649">
            <a:off x="-746863" y="-162024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45262" y="9758935"/>
            <a:ext cx="4023291" cy="528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0537" y="2989982"/>
            <a:ext cx="16768631" cy="626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2"/>
              </a:lnSpc>
              <a:spcBef>
                <a:spcPct val="0"/>
              </a:spcBef>
            </a:pPr>
            <a:r>
              <a:rPr lang="en-US" sz="29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My Con</a:t>
            </a:r>
            <a:r>
              <a:rPr lang="en-US" sz="29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tribution:</a:t>
            </a:r>
          </a:p>
          <a:p>
            <a:pPr algn="l">
              <a:lnSpc>
                <a:spcPts val="4152"/>
              </a:lnSpc>
              <a:spcBef>
                <a:spcPct val="0"/>
              </a:spcBef>
            </a:pPr>
            <a:r>
              <a:rPr lang="en-US" sz="29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Built the complete RAG pipeline</a:t>
            </a:r>
          </a:p>
          <a:p>
            <a:pPr algn="l">
              <a:lnSpc>
                <a:spcPts val="4152"/>
              </a:lnSpc>
              <a:spcBef>
                <a:spcPct val="0"/>
              </a:spcBef>
            </a:pPr>
            <a:r>
              <a:rPr lang="en-US" sz="29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Implemented PDF chunking and embeddings</a:t>
            </a:r>
          </a:p>
          <a:p>
            <a:pPr algn="l">
              <a:lnSpc>
                <a:spcPts val="4152"/>
              </a:lnSpc>
              <a:spcBef>
                <a:spcPct val="0"/>
              </a:spcBef>
            </a:pPr>
            <a:r>
              <a:rPr lang="en-US" sz="29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Integrated ChromaDB vector database</a:t>
            </a:r>
          </a:p>
          <a:p>
            <a:pPr algn="l">
              <a:lnSpc>
                <a:spcPts val="4152"/>
              </a:lnSpc>
              <a:spcBef>
                <a:spcPct val="0"/>
              </a:spcBef>
            </a:pPr>
            <a:r>
              <a:rPr lang="en-US" sz="29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Developed the Streamlit frontend UI</a:t>
            </a:r>
          </a:p>
          <a:p>
            <a:pPr algn="l">
              <a:lnSpc>
                <a:spcPts val="4152"/>
              </a:lnSpc>
              <a:spcBef>
                <a:spcPct val="0"/>
              </a:spcBef>
            </a:pPr>
            <a:r>
              <a:rPr lang="en-US" sz="29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Added logging and persistent storage</a:t>
            </a:r>
          </a:p>
          <a:p>
            <a:pPr algn="l">
              <a:lnSpc>
                <a:spcPts val="4152"/>
              </a:lnSpc>
              <a:spcBef>
                <a:spcPct val="0"/>
              </a:spcBef>
            </a:pPr>
          </a:p>
          <a:p>
            <a:pPr algn="l">
              <a:lnSpc>
                <a:spcPts val="4152"/>
              </a:lnSpc>
              <a:spcBef>
                <a:spcPct val="0"/>
              </a:spcBef>
            </a:pPr>
            <a:r>
              <a:rPr lang="en-US" sz="29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Challenges Faced:</a:t>
            </a:r>
          </a:p>
          <a:p>
            <a:pPr algn="l">
              <a:lnSpc>
                <a:spcPts val="4152"/>
              </a:lnSpc>
              <a:spcBef>
                <a:spcPct val="0"/>
              </a:spcBef>
            </a:pPr>
            <a:r>
              <a:rPr lang="en-US" sz="29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Understanding Vector Similarity (Solved by learning how embeddings capture meaning)</a:t>
            </a:r>
          </a:p>
          <a:p>
            <a:pPr algn="l">
              <a:lnSpc>
                <a:spcPts val="4152"/>
              </a:lnSpc>
              <a:spcBef>
                <a:spcPct val="0"/>
              </a:spcBef>
            </a:pPr>
            <a:r>
              <a:rPr lang="en-US" sz="29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Slow embedding generation (Solved using persistent ChromaDB storage)</a:t>
            </a:r>
          </a:p>
          <a:p>
            <a:pPr algn="l">
              <a:lnSpc>
                <a:spcPts val="4152"/>
              </a:lnSpc>
              <a:spcBef>
                <a:spcPct val="0"/>
              </a:spcBef>
            </a:pPr>
            <a:r>
              <a:rPr lang="en-US" sz="29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Chat history reset during reloads  (Solved by using session_state in Streamlit)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6925" y="729578"/>
            <a:ext cx="11564498" cy="149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2"/>
              </a:lnSpc>
              <a:spcBef>
                <a:spcPct val="0"/>
              </a:spcBef>
            </a:pP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RESULTS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529228" y="8229600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5" y="0"/>
                </a:lnTo>
                <a:lnTo>
                  <a:pt x="68090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58299">
            <a:off x="15935144" y="753686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32355" y="954663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83770" y="3175017"/>
            <a:ext cx="11920460" cy="5407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4"/>
              </a:lnSpc>
              <a:spcBef>
                <a:spcPct val="0"/>
              </a:spcBef>
            </a:pPr>
            <a:r>
              <a:rPr lang="en-US" sz="309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Testing Pe</a:t>
            </a:r>
            <a:r>
              <a:rPr lang="en-US" sz="309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rformed:</a:t>
            </a:r>
          </a:p>
          <a:p>
            <a:pPr algn="l">
              <a:lnSpc>
                <a:spcPts val="4334"/>
              </a:lnSpc>
              <a:spcBef>
                <a:spcPct val="0"/>
              </a:spcBef>
            </a:pPr>
            <a:r>
              <a:rPr lang="en-US" sz="309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Asked multiple PDF-related questions</a:t>
            </a:r>
          </a:p>
          <a:p>
            <a:pPr algn="l">
              <a:lnSpc>
                <a:spcPts val="4334"/>
              </a:lnSpc>
              <a:spcBef>
                <a:spcPct val="0"/>
              </a:spcBef>
            </a:pPr>
            <a:r>
              <a:rPr lang="en-US" sz="309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Verified correct chunk retrieval</a:t>
            </a:r>
          </a:p>
          <a:p>
            <a:pPr algn="l">
              <a:lnSpc>
                <a:spcPts val="4334"/>
              </a:lnSpc>
              <a:spcBef>
                <a:spcPct val="0"/>
              </a:spcBef>
            </a:pPr>
            <a:r>
              <a:rPr lang="en-US" sz="309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Compared answers with and without RAG</a:t>
            </a:r>
          </a:p>
          <a:p>
            <a:pPr algn="l">
              <a:lnSpc>
                <a:spcPts val="4334"/>
              </a:lnSpc>
              <a:spcBef>
                <a:spcPct val="0"/>
              </a:spcBef>
            </a:pPr>
            <a:r>
              <a:rPr lang="en-US" sz="309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Tested different retrieval settings</a:t>
            </a:r>
          </a:p>
          <a:p>
            <a:pPr algn="l">
              <a:lnSpc>
                <a:spcPts val="4334"/>
              </a:lnSpc>
              <a:spcBef>
                <a:spcPct val="0"/>
              </a:spcBef>
            </a:pPr>
          </a:p>
          <a:p>
            <a:pPr algn="l">
              <a:lnSpc>
                <a:spcPts val="4334"/>
              </a:lnSpc>
              <a:spcBef>
                <a:spcPct val="0"/>
              </a:spcBef>
            </a:pPr>
            <a:r>
              <a:rPr lang="en-US" sz="309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Observations:</a:t>
            </a:r>
          </a:p>
          <a:p>
            <a:pPr algn="l">
              <a:lnSpc>
                <a:spcPts val="4334"/>
              </a:lnSpc>
              <a:spcBef>
                <a:spcPct val="0"/>
              </a:spcBef>
            </a:pPr>
            <a:r>
              <a:rPr lang="en-US" sz="309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RAG produced more accurate answers</a:t>
            </a:r>
          </a:p>
          <a:p>
            <a:pPr algn="l">
              <a:lnSpc>
                <a:spcPts val="4334"/>
              </a:lnSpc>
              <a:spcBef>
                <a:spcPct val="0"/>
              </a:spcBef>
            </a:pPr>
            <a:r>
              <a:rPr lang="en-US" sz="309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Semantic search improved retrieval quality</a:t>
            </a:r>
          </a:p>
          <a:p>
            <a:pPr algn="l">
              <a:lnSpc>
                <a:spcPts val="4334"/>
              </a:lnSpc>
              <a:spcBef>
                <a:spcPct val="0"/>
              </a:spcBef>
            </a:pPr>
            <a:r>
              <a:rPr lang="en-US" sz="309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Streamlit improved usability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61751" y="196506"/>
            <a:ext cx="11564498" cy="149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2"/>
              </a:lnSpc>
              <a:spcBef>
                <a:spcPct val="0"/>
              </a:spcBef>
            </a:pP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SCREENSHOTS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529228" y="8229600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5" y="0"/>
                </a:lnTo>
                <a:lnTo>
                  <a:pt x="68090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58299">
            <a:off x="16451845" y="778023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53649">
            <a:off x="-605944" y="-229696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5693" y="2196365"/>
            <a:ext cx="17210817" cy="7127746"/>
          </a:xfrm>
          <a:custGeom>
            <a:avLst/>
            <a:gdLst/>
            <a:ahLst/>
            <a:cxnLst/>
            <a:rect r="r" b="b" t="t" l="l"/>
            <a:pathLst>
              <a:path h="7127746" w="17210817">
                <a:moveTo>
                  <a:pt x="0" y="0"/>
                </a:moveTo>
                <a:lnTo>
                  <a:pt x="17210817" y="0"/>
                </a:lnTo>
                <a:lnTo>
                  <a:pt x="17210817" y="7127746"/>
                </a:lnTo>
                <a:lnTo>
                  <a:pt x="0" y="71277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47" t="0" r="0" b="-379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132355" y="954663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29228" y="8229600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5" y="0"/>
                </a:lnTo>
                <a:lnTo>
                  <a:pt x="68090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58299">
            <a:off x="16451845" y="778023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53649">
            <a:off x="-605944" y="-229696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3991" y="462852"/>
            <a:ext cx="8892306" cy="6249918"/>
          </a:xfrm>
          <a:custGeom>
            <a:avLst/>
            <a:gdLst/>
            <a:ahLst/>
            <a:cxnLst/>
            <a:rect r="r" b="b" t="t" l="l"/>
            <a:pathLst>
              <a:path h="6249918" w="8892306">
                <a:moveTo>
                  <a:pt x="0" y="0"/>
                </a:moveTo>
                <a:lnTo>
                  <a:pt x="8892305" y="0"/>
                </a:lnTo>
                <a:lnTo>
                  <a:pt x="8892305" y="6249918"/>
                </a:lnTo>
                <a:lnTo>
                  <a:pt x="0" y="62499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3155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87472" y="4594700"/>
            <a:ext cx="11301259" cy="5016588"/>
          </a:xfrm>
          <a:custGeom>
            <a:avLst/>
            <a:gdLst/>
            <a:ahLst/>
            <a:cxnLst/>
            <a:rect r="r" b="b" t="t" l="l"/>
            <a:pathLst>
              <a:path h="5016588" w="11301259">
                <a:moveTo>
                  <a:pt x="0" y="0"/>
                </a:moveTo>
                <a:lnTo>
                  <a:pt x="11301259" y="0"/>
                </a:lnTo>
                <a:lnTo>
                  <a:pt x="11301259" y="5016589"/>
                </a:lnTo>
                <a:lnTo>
                  <a:pt x="0" y="50165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292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803545" y="9752618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8299">
            <a:off x="14945300" y="787498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52714" y="8023617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112529" y="4428025"/>
            <a:ext cx="9639368" cy="411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2"/>
              </a:lnSpc>
              <a:spcBef>
                <a:spcPct val="0"/>
              </a:spcBef>
            </a:pPr>
            <a:r>
              <a:rPr lang="en-US" sz="33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Support more file formats </a:t>
            </a:r>
          </a:p>
          <a:p>
            <a:pPr algn="l">
              <a:lnSpc>
                <a:spcPts val="4712"/>
              </a:lnSpc>
              <a:spcBef>
                <a:spcPct val="0"/>
              </a:spcBef>
            </a:pPr>
            <a:r>
              <a:rPr lang="en-US" sz="33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Improve retrieval accuracy </a:t>
            </a:r>
          </a:p>
          <a:p>
            <a:pPr algn="l">
              <a:lnSpc>
                <a:spcPts val="4712"/>
              </a:lnSpc>
              <a:spcBef>
                <a:spcPct val="0"/>
              </a:spcBef>
            </a:pPr>
            <a:r>
              <a:rPr lang="en-US" sz="33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Add file upload support</a:t>
            </a:r>
          </a:p>
          <a:p>
            <a:pPr algn="l">
              <a:lnSpc>
                <a:spcPts val="4712"/>
              </a:lnSpc>
              <a:spcBef>
                <a:spcPct val="0"/>
              </a:spcBef>
            </a:pPr>
            <a:r>
              <a:rPr lang="en-US" sz="33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Improve the Streamlit UI </a:t>
            </a:r>
          </a:p>
          <a:p>
            <a:pPr algn="l">
              <a:lnSpc>
                <a:spcPts val="4712"/>
              </a:lnSpc>
              <a:spcBef>
                <a:spcPct val="0"/>
              </a:spcBef>
            </a:pPr>
            <a:r>
              <a:rPr lang="en-US" sz="33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Add source citations </a:t>
            </a:r>
          </a:p>
          <a:p>
            <a:pPr algn="l">
              <a:lnSpc>
                <a:spcPts val="4712"/>
              </a:lnSpc>
              <a:spcBef>
                <a:spcPct val="0"/>
              </a:spcBef>
            </a:pPr>
            <a:r>
              <a:rPr lang="en-US" sz="33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Optimize retrieval speed </a:t>
            </a:r>
          </a:p>
          <a:p>
            <a:pPr algn="l">
              <a:lnSpc>
                <a:spcPts val="4712"/>
              </a:lnSpc>
              <a:spcBef>
                <a:spcPct val="0"/>
              </a:spcBef>
            </a:pPr>
            <a:r>
              <a:rPr lang="en-US" sz="33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Add response feedback system for users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67762" y="407509"/>
            <a:ext cx="11728903" cy="303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2"/>
              </a:lnSpc>
              <a:spcBef>
                <a:spcPct val="0"/>
              </a:spcBef>
            </a:pP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FUTURE IMPROVEMENTS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32355" y="954663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8299">
            <a:off x="15935144" y="72395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584634" y="3550800"/>
            <a:ext cx="14951801" cy="432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2"/>
              </a:lnSpc>
            </a:pPr>
            <a:r>
              <a:rPr lang="en-US" sz="30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These projects helped in understanding:</a:t>
            </a:r>
          </a:p>
          <a:p>
            <a:pPr algn="l">
              <a:lnSpc>
                <a:spcPts val="4292"/>
              </a:lnSpc>
            </a:pPr>
            <a:r>
              <a:rPr lang="en-US" sz="30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Conversational AI systems</a:t>
            </a:r>
          </a:p>
          <a:p>
            <a:pPr algn="l">
              <a:lnSpc>
                <a:spcPts val="4292"/>
              </a:lnSpc>
            </a:pPr>
            <a:r>
              <a:rPr lang="en-US" sz="30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Retrieval-Augmented Generation (RAG)</a:t>
            </a:r>
          </a:p>
          <a:p>
            <a:pPr algn="l">
              <a:lnSpc>
                <a:spcPts val="4292"/>
              </a:lnSpc>
            </a:pPr>
            <a:r>
              <a:rPr lang="en-US" sz="30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Semantic search and vector databases</a:t>
            </a:r>
          </a:p>
          <a:p>
            <a:pPr algn="l">
              <a:lnSpc>
                <a:spcPts val="4292"/>
              </a:lnSpc>
              <a:spcBef>
                <a:spcPct val="0"/>
              </a:spcBef>
            </a:pPr>
            <a:r>
              <a:rPr lang="en-US" sz="30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Context-aware AI applications</a:t>
            </a:r>
          </a:p>
          <a:p>
            <a:pPr algn="l">
              <a:lnSpc>
                <a:spcPts val="4292"/>
              </a:lnSpc>
              <a:spcBef>
                <a:spcPct val="0"/>
              </a:spcBef>
            </a:pPr>
          </a:p>
          <a:p>
            <a:pPr algn="l">
              <a:lnSpc>
                <a:spcPts val="4292"/>
              </a:lnSpc>
              <a:spcBef>
                <a:spcPct val="0"/>
              </a:spcBef>
            </a:pPr>
            <a:r>
              <a:rPr lang="en-US" sz="30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30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 projects also provided practical experience in building real-world AI applications using modern AI tools and frameworks.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32167" y="857250"/>
            <a:ext cx="11564498" cy="149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2"/>
              </a:lnSpc>
              <a:spcBef>
                <a:spcPct val="0"/>
              </a:spcBef>
            </a:pP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32355" y="954663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232167" y="4610121"/>
            <a:ext cx="11718350" cy="189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sz="110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DAHK13tfdwI</dc:identifier>
  <dcterms:modified xsi:type="dcterms:W3CDTF">2011-08-01T06:04:30Z</dcterms:modified>
  <cp:revision>1</cp:revision>
  <dc:title>AI Chatbot &amp; RAG AI System</dc:title>
</cp:coreProperties>
</file>